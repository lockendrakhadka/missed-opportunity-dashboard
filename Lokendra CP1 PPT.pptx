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F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48B7B-33C1-4906-87FC-2599C07764B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FA3C9-C22F-4D07-9A7F-D6A7F666FE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417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 with the problem statement: damage and delays erode trust and add cost; this analysis quantifies drivers and prioritizes actions.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FA3C9-C22F-4D07-9A7F-D6A7F666FE0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628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Mention report pages: Executive summary, Damage, Delay, Risk/Actions,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Drillthrough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evidence.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FA3C9-C22F-4D07-9A7F-D6A7F666FE0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986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 to cost avoidance and customer experience; emphasize measurable targets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drillthrough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verification.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FA3C9-C22F-4D07-9A7F-D6A7F666FE0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103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with the operational playbook and the expected KPI lift.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FA3C9-C22F-4D07-9A7F-D6A7F666FE0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851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88D92-D3D7-40C1-9BE7-E952723475F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9AEC-CF64-4ACF-893D-FD85E6239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043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88D92-D3D7-40C1-9BE7-E952723475F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9AEC-CF64-4ACF-893D-FD85E6239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774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88D92-D3D7-40C1-9BE7-E952723475F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9AEC-CF64-4ACF-893D-FD85E6239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215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88D92-D3D7-40C1-9BE7-E952723475F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9AEC-CF64-4ACF-893D-FD85E6239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504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88D92-D3D7-40C1-9BE7-E952723475F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9AEC-CF64-4ACF-893D-FD85E6239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686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88D92-D3D7-40C1-9BE7-E952723475F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9AEC-CF64-4ACF-893D-FD85E6239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63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88D92-D3D7-40C1-9BE7-E952723475F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9AEC-CF64-4ACF-893D-FD85E6239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049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88D92-D3D7-40C1-9BE7-E952723475F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9AEC-CF64-4ACF-893D-FD85E6239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834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88D92-D3D7-40C1-9BE7-E952723475F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9AEC-CF64-4ACF-893D-FD85E6239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86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88D92-D3D7-40C1-9BE7-E952723475F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9AEC-CF64-4ACF-893D-FD85E6239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00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88D92-D3D7-40C1-9BE7-E952723475F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59AEC-CF64-4ACF-893D-FD85E6239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231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88D92-D3D7-40C1-9BE7-E952723475F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59AEC-CF64-4ACF-893D-FD85E6239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064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4F56-B34D-6C85-B50F-77CF698BCB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Missed Opportunity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9D3223-47C9-6DE2-E003-EE9F3E95B5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Analyzing Potential Revenue Loss Due to Delays and Operational Inefficiencies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F9D89-F020-A0F6-5F7F-EEDBEFF4E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Lokendra Khadka | Power BI</a:t>
            </a:r>
          </a:p>
        </p:txBody>
      </p:sp>
    </p:spTree>
    <p:extLst>
      <p:ext uri="{BB962C8B-B14F-4D97-AF65-F5344CB8AC3E}">
        <p14:creationId xmlns:p14="http://schemas.microsoft.com/office/powerpoint/2010/main" val="2921048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EBD46-8D15-DAD8-3C61-D35005BD6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u="sng" dirty="0"/>
              <a:t>Business Context &amp;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F3634-90C8-8D4A-3ABB-C161209AF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3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Lead-driven businesses depend heavily on timely responses and effective follow-ups </a:t>
            </a:r>
          </a:p>
          <a:p>
            <a:pPr marL="0" indent="0">
              <a:buNone/>
            </a:pPr>
            <a:r>
              <a:rPr lang="en-US" sz="23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3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Delays in responding to leads result in lost conversions  </a:t>
            </a:r>
          </a:p>
          <a:p>
            <a:pPr marL="0" indent="0">
              <a:buNone/>
            </a:pPr>
            <a:endParaRPr lang="en-US" sz="23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23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Operational inefficiencies cause significant revenue leakage</a:t>
            </a:r>
          </a:p>
        </p:txBody>
      </p:sp>
    </p:spTree>
    <p:extLst>
      <p:ext uri="{BB962C8B-B14F-4D97-AF65-F5344CB8AC3E}">
        <p14:creationId xmlns:p14="http://schemas.microsoft.com/office/powerpoint/2010/main" val="2224063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A7F6D-E249-3D98-CE84-616D9BB80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500" b="1" u="sng" dirty="0"/>
              <a:t>Business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DECBF-5273-CE54-8CE1-0D4D699F3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300" dirty="0">
              <a:latin typeface="+mj-lt"/>
            </a:endParaRPr>
          </a:p>
          <a:p>
            <a:pPr marL="0" indent="0">
              <a:buNone/>
            </a:pPr>
            <a:r>
              <a:rPr lang="en-US" sz="2300" dirty="0">
                <a:latin typeface="+mj-lt"/>
              </a:rPr>
              <a:t>• Lead-based B2B service / SaaS-oriented sales model  </a:t>
            </a:r>
          </a:p>
          <a:p>
            <a:pPr marL="0" indent="0">
              <a:buNone/>
            </a:pPr>
            <a:endParaRPr lang="en-US" sz="2300" dirty="0">
              <a:latin typeface="+mj-lt"/>
            </a:endParaRPr>
          </a:p>
          <a:p>
            <a:pPr marL="0" indent="0">
              <a:buNone/>
            </a:pPr>
            <a:r>
              <a:rPr lang="en-US" sz="2300" dirty="0">
                <a:latin typeface="+mj-lt"/>
              </a:rPr>
              <a:t>• Leads generated through digital and referral channels  </a:t>
            </a:r>
          </a:p>
          <a:p>
            <a:pPr marL="0" indent="0">
              <a:buNone/>
            </a:pPr>
            <a:endParaRPr lang="en-US" sz="2300" dirty="0">
              <a:latin typeface="+mj-lt"/>
            </a:endParaRPr>
          </a:p>
          <a:p>
            <a:pPr marL="0" indent="0">
              <a:buNone/>
            </a:pPr>
            <a:r>
              <a:rPr lang="en-US" sz="2300" dirty="0">
                <a:latin typeface="+mj-lt"/>
              </a:rPr>
              <a:t>• Sales teams convert leads through engagement and follow-ups  </a:t>
            </a:r>
          </a:p>
          <a:p>
            <a:pPr marL="0" indent="0">
              <a:buNone/>
            </a:pPr>
            <a:endParaRPr lang="en-US" sz="2300" dirty="0">
              <a:latin typeface="+mj-lt"/>
            </a:endParaRPr>
          </a:p>
          <a:p>
            <a:pPr marL="0" indent="0">
              <a:buNone/>
            </a:pPr>
            <a:r>
              <a:rPr lang="en-US" sz="2300" dirty="0">
                <a:latin typeface="+mj-lt"/>
              </a:rPr>
              <a:t>• Response time is a critical success factor</a:t>
            </a:r>
          </a:p>
        </p:txBody>
      </p:sp>
    </p:spTree>
    <p:extLst>
      <p:ext uri="{BB962C8B-B14F-4D97-AF65-F5344CB8AC3E}">
        <p14:creationId xmlns:p14="http://schemas.microsoft.com/office/powerpoint/2010/main" val="1746294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29F92F0-5FA3-9823-CE72-3A5C91C14AF1}"/>
              </a:ext>
            </a:extLst>
          </p:cNvPr>
          <p:cNvSpPr txBox="1"/>
          <p:nvPr/>
        </p:nvSpPr>
        <p:spPr>
          <a:xfrm>
            <a:off x="6724650" y="758425"/>
            <a:ext cx="421803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/>
              <a:t>Analytical Objectives</a:t>
            </a:r>
          </a:p>
          <a:p>
            <a:endParaRPr lang="en-IN" dirty="0"/>
          </a:p>
          <a:p>
            <a:r>
              <a:rPr lang="en-US" dirty="0"/>
              <a:t>• Identify revenue loss caused by dropped leads </a:t>
            </a:r>
          </a:p>
          <a:p>
            <a:endParaRPr lang="en-IN" dirty="0"/>
          </a:p>
          <a:p>
            <a:r>
              <a:rPr lang="en-US" dirty="0"/>
              <a:t>• Identifying the revenue loss by Lead source</a:t>
            </a:r>
          </a:p>
          <a:p>
            <a:endParaRPr lang="en-US" dirty="0"/>
          </a:p>
          <a:p>
            <a:r>
              <a:rPr lang="en-US" dirty="0"/>
              <a:t>• Identifying which region has the most drops</a:t>
            </a:r>
            <a:endParaRPr lang="en-IN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6E1717A-D2C3-F4C9-22B4-9CB994DF6D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7832" y="465691"/>
            <a:ext cx="6349334" cy="568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84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74E4A16-469E-F104-F98D-2E5208D25BC5}"/>
              </a:ext>
            </a:extLst>
          </p:cNvPr>
          <p:cNvSpPr txBox="1"/>
          <p:nvPr/>
        </p:nvSpPr>
        <p:spPr>
          <a:xfrm>
            <a:off x="6248400" y="1304692"/>
            <a:ext cx="61722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u="sng" dirty="0"/>
              <a:t>Executive Insights Summary</a:t>
            </a:r>
          </a:p>
          <a:p>
            <a:endParaRPr lang="en-IN" sz="2000" u="sng" dirty="0"/>
          </a:p>
          <a:p>
            <a:r>
              <a:rPr lang="en-US" sz="2000" dirty="0"/>
              <a:t>• Conversion is good in the first 1-2 hours </a:t>
            </a:r>
            <a:endParaRPr lang="en-IN" sz="2000" u="sng" dirty="0"/>
          </a:p>
          <a:p>
            <a:endParaRPr lang="en-IN" sz="2000" u="sng" dirty="0"/>
          </a:p>
          <a:p>
            <a:r>
              <a:rPr lang="en-US" dirty="0"/>
              <a:t>• Conversion probability declines sharply after 4+ hours of response delay</a:t>
            </a:r>
          </a:p>
          <a:p>
            <a:endParaRPr lang="en-IN" dirty="0"/>
          </a:p>
          <a:p>
            <a:r>
              <a:rPr lang="en-US" dirty="0"/>
              <a:t>• Follow-ups increase the chances of conversions 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1BA5670-D5DD-8D00-6698-52B3C1FF8D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652" y="1520054"/>
            <a:ext cx="5626509" cy="377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458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CED67-60C3-826B-A510-45DBBC46C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500" b="1" u="sng" dirty="0"/>
              <a:t>Recommendations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75C71-E628-708D-F881-3752C4113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300" dirty="0">
                <a:latin typeface="+mj-lt"/>
              </a:rPr>
              <a:t>• Enforce strict response-time SLAs (≤ 2 hours)  </a:t>
            </a:r>
          </a:p>
          <a:p>
            <a:pPr marL="0" indent="0">
              <a:buNone/>
            </a:pPr>
            <a:endParaRPr lang="en-US" sz="2300" dirty="0">
              <a:latin typeface="+mj-lt"/>
            </a:endParaRPr>
          </a:p>
          <a:p>
            <a:pPr marL="0" indent="0">
              <a:buNone/>
            </a:pPr>
            <a:r>
              <a:rPr lang="en-US" sz="2300" dirty="0">
                <a:latin typeface="+mj-lt"/>
              </a:rPr>
              <a:t>• Prioritize faster handling of high-value lead sources  </a:t>
            </a:r>
          </a:p>
          <a:p>
            <a:pPr marL="0" indent="0">
              <a:buNone/>
            </a:pPr>
            <a:endParaRPr lang="en-US" sz="2300" dirty="0">
              <a:latin typeface="+mj-lt"/>
            </a:endParaRPr>
          </a:p>
          <a:p>
            <a:pPr marL="0" indent="0">
              <a:buNone/>
            </a:pPr>
            <a:r>
              <a:rPr lang="en-US" sz="2300" dirty="0">
                <a:latin typeface="+mj-lt"/>
              </a:rPr>
              <a:t>• Strengthen follow-up discipline within sales teams  </a:t>
            </a:r>
          </a:p>
          <a:p>
            <a:pPr marL="0" indent="0">
              <a:buNone/>
            </a:pPr>
            <a:endParaRPr lang="en-US" sz="2300" dirty="0">
              <a:latin typeface="+mj-lt"/>
            </a:endParaRPr>
          </a:p>
          <a:p>
            <a:pPr marL="0" indent="0">
              <a:buNone/>
            </a:pPr>
            <a:r>
              <a:rPr lang="en-US" sz="2300" dirty="0">
                <a:latin typeface="+mj-lt"/>
              </a:rPr>
              <a:t>• Continuous monitoring of response time can significantly reduce revenue loss</a:t>
            </a:r>
          </a:p>
        </p:txBody>
      </p:sp>
    </p:spTree>
    <p:extLst>
      <p:ext uri="{BB962C8B-B14F-4D97-AF65-F5344CB8AC3E}">
        <p14:creationId xmlns:p14="http://schemas.microsoft.com/office/powerpoint/2010/main" val="1827474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8496B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356</TotalTime>
  <Words>254</Words>
  <Application>Microsoft Office PowerPoint</Application>
  <PresentationFormat>Widescreen</PresentationFormat>
  <Paragraphs>48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Missed Opportunity Dashboard</vt:lpstr>
      <vt:lpstr>Business Context &amp; Problem</vt:lpstr>
      <vt:lpstr>Business Model</vt:lpstr>
      <vt:lpstr>PowerPoint Presentation</vt:lpstr>
      <vt:lpstr>PowerPoint Presentation</vt:lpstr>
      <vt:lpstr>Recommendations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Sumedha Raut</dc:creator>
  <cp:lastModifiedBy>lockendrakhadka111@gmail.com</cp:lastModifiedBy>
  <cp:revision>5</cp:revision>
  <dcterms:created xsi:type="dcterms:W3CDTF">2025-09-28T12:53:03Z</dcterms:created>
  <dcterms:modified xsi:type="dcterms:W3CDTF">2026-02-09T10:15:41Z</dcterms:modified>
</cp:coreProperties>
</file>